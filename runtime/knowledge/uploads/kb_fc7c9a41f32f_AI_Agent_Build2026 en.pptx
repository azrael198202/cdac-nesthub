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2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1812" y="114"/>
      </p:cViewPr>
      <p:guideLst>
        <p:guide orient="horz" pos="21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25" y="1110615"/>
            <a:ext cx="8228965" cy="56413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200" dirty="0">
                <a:cs typeface="+mn-lt"/>
              </a:rPr>
              <a:t>■ Business Domains (Core Operations)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Order Management System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Project / Process Management System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Cost Management System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Core Systems Development for Finance, Securities, and Accounting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Mobile Application Development (iOS / Android)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Infrastructure &amp; Platform Development</a:t>
            </a: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r>
              <a:rPr lang="en-US" altLang="en-US" sz="1200" dirty="0">
                <a:cs typeface="+mn-lt"/>
              </a:rPr>
              <a:t>End-to-end capability from upstream (requirements definition) to downstream (operation &amp; intenance)</a:t>
            </a: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r>
              <a:rPr lang="en-US" altLang="en-US" sz="1200" dirty="0">
                <a:cs typeface="+mn-lt"/>
              </a:rPr>
              <a:t>■ Technology Foundation (AI &amp; Cloud)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Azure / Azure OpenAI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OpenAI (LLM utilization)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Microsoft 365 / Copilot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GitHub Copilot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r>
              <a:rPr lang="en-US" altLang="en-US" sz="1200" dirty="0">
                <a:cs typeface="+mn-lt"/>
              </a:rPr>
              <a:t>■ Development Technology Stack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Backend: Java (Spring Boot), Node.js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AI: Python (LLM / RAG / Agents)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Frontend:</a:t>
            </a:r>
            <a:endParaRPr lang="en-US" altLang="en-US" sz="1200" dirty="0">
              <a:cs typeface="+mn-lt"/>
            </a:endParaRPr>
          </a:p>
          <a:p>
            <a:pPr marL="0" indent="457200">
              <a:buFont typeface="Arial" panose="020B0604020202090204" pitchFamily="34" charset="0"/>
              <a:buNone/>
            </a:pPr>
            <a:r>
              <a:rPr lang="en-US" altLang="en-US" sz="1200" dirty="0">
                <a:cs typeface="+mn-lt"/>
              </a:rPr>
              <a:t>Web: React, Vue, Angular, Next.js</a:t>
            </a:r>
            <a:endParaRPr lang="en-US" altLang="en-US" sz="1200" dirty="0">
              <a:cs typeface="+mn-lt"/>
            </a:endParaRPr>
          </a:p>
          <a:p>
            <a:pPr marL="0" indent="457200">
              <a:buFont typeface="Arial" panose="020B0604020202090204" pitchFamily="34" charset="0"/>
              <a:buNone/>
            </a:pPr>
            <a:r>
              <a:rPr lang="en-US" altLang="en-US" sz="1200" dirty="0">
                <a:cs typeface="+mn-lt"/>
              </a:rPr>
              <a:t>Mobile: Flutter, React Native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Infrastructure: AWS, Azure, Docker, Kubernetes</a:t>
            </a:r>
            <a:endParaRPr lang="en-US" altLang="en-US" sz="1200" dirty="0">
              <a:cs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8010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+mn-lt"/>
                <a:cs typeface="+mn-lt"/>
              </a:rPr>
              <a:t>Current State of Our Company</a:t>
            </a:r>
            <a:endParaRPr lang="en-US" altLang="en-US" sz="3600" dirty="0">
              <a:latin typeface="+mn-lt"/>
              <a:cs typeface="+mn-lt"/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4149725" y="3486785"/>
            <a:ext cx="4841240" cy="166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90204"/>
              <a:buNone/>
            </a:pPr>
            <a:r>
              <a:rPr lang="en-US" altLang="en-US" sz="1200" dirty="0">
                <a:cs typeface="+mn-lt"/>
              </a:rPr>
              <a:t>■ Data &amp; System Assets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Business Systems (Core Systems &amp; Business Applications)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Databases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File Servers / SharePoint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Accumulated Customer and Business Data</a:t>
            </a:r>
            <a:endParaRPr lang="en-US" altLang="en-US" sz="1200" dirty="0"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+mn-lt"/>
                <a:cs typeface="+mn-lt"/>
              </a:rPr>
              <a:t>Current System Architecture (1)</a:t>
            </a:r>
            <a:endParaRPr lang="en-US" altLang="en-US" sz="3600" dirty="0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71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400" dirty="0">
                <a:cs typeface="+mn-lt"/>
              </a:rPr>
              <a:t>■ Construction Industry Overview</a:t>
            </a: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dirty="0">
                <a:cs typeface="+mn-lt"/>
              </a:rPr>
              <a:t>(Construction Sites × Partner Company Collaboration)</a:t>
            </a: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dirty="0">
                <a:cs typeface="+mn-lt"/>
              </a:rPr>
              <a:t>This system is designed around the following key operations at construction sites:</a:t>
            </a: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Takumi App (On-site Operations)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Worker Entry / Exit Management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RKY (Risk Prediction Activity) Creation &amp; Approval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Project Progress Management &amp; Photo Recording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Material Delivery Scheduling Management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On-site Communication (Room Function)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Site Map &amp; Location Management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Partner System (Collaboration with Subcontractors)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Worker Login &amp; Account Management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Schedule Management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Document Sharing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Survey &amp; Newsletter Distribution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Point Management (Welfare &amp; Engagement Incentives)</a:t>
            </a:r>
            <a:endParaRPr lang="en-US" altLang="en-US" sz="1400" dirty="0"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+mn-lt"/>
                <a:cs typeface="+mn-lt"/>
              </a:rPr>
              <a:t>Current System Architecture (2)</a:t>
            </a:r>
            <a:endParaRPr lang="en-US" altLang="en-US" sz="3600" dirty="0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Automated Testing (Current State)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Based on the Japanese development process, automated testing is conducted at the business workflow level: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Test cases are created based on business scenarios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UI operations and data inputs are scripted for each screen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Screenshots are captured for every operation step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Test evidence documents are automatically generated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Issues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High cost of test case creation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Significant maintenance effort when UI changes occur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Slow adaptation to business changes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Limited flexibility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Rule-based and manually designed approach</a:t>
            </a:r>
            <a:endParaRPr lang="en-US" altLang="en-US" sz="1500" dirty="0"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+mn-lt"/>
                <a:cs typeface="+mn-lt"/>
              </a:rPr>
              <a:t>AI in Practice: EvolvAI Platform &amp; AI-Powered Calling Services</a:t>
            </a:r>
            <a:endParaRPr lang="en-US" altLang="en-US" dirty="0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90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EvolvAI (AI-Powered Business Support Platform)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An AI system that leverages business data and organizational knowledge to enhance internal operational efficiency.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Key Features: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Enterprise Knowledge Search (RAG)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Document Summarization &amp; Analysis (PDFs / Business Documents)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Chatbot-based Inquiry Handling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Work Support (Meeting Minutes &amp; Document Generation)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AI-Powered Call Service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Automates call handling operations using AI to improve customer service and inquiry response efficiency.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Key Features: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Speech Recognition (STT) &amp; Text-to-Speech (TTS)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LLM-based Response Generation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ntegration with Telephony and Internal Business Systems (e.g., CRM, Order) 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Multilingual Support</a:t>
            </a:r>
            <a:endParaRPr lang="en-US" altLang="en-US" sz="1500" dirty="0"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>
                <a:latin typeface="+mn-lt"/>
                <a:cs typeface="+mn-lt"/>
              </a:rPr>
              <a:t>Japanese Development Process × AI Utilization</a:t>
            </a:r>
            <a:endParaRPr lang="en-US" altLang="en-US" sz="2800" dirty="0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164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Japanese Development Process 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Requirement Analysis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Requirements Definition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Basic Design (High-Level Design)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Detailed Design (Low-Level Design)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Development (Coding)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Unit Testing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Integration Testing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System Testing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Key Characteristics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Document-driven </a:t>
            </a:r>
            <a:endParaRPr lang="en-US" altLang="en-US" sz="1400" dirty="0">
              <a:cs typeface="+mn-lt"/>
            </a:endParaRPr>
          </a:p>
          <a:p>
            <a:pPr marL="0" indent="457200">
              <a:buFont typeface="Arial" panose="020B0604020202090204" pitchFamily="34" charset="0"/>
              <a:buNone/>
            </a:pPr>
            <a:r>
              <a:rPr lang="en-US" altLang="en-US" sz="1400" dirty="0">
                <a:cs typeface="+mn-lt"/>
              </a:rPr>
              <a:t>(design document-centric approach)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Clearly separated phases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Heavy reliance on manual reviews and approvals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Strong focus on quality, </a:t>
            </a:r>
            <a:endParaRPr lang="en-US" altLang="en-US" sz="1400" dirty="0">
              <a:cs typeface="+mn-lt"/>
            </a:endParaRPr>
          </a:p>
          <a:p>
            <a:pPr marL="0" indent="457200">
              <a:buFont typeface="Arial" panose="020B0604020202090204" pitchFamily="34" charset="0"/>
              <a:buNone/>
            </a:pPr>
            <a:r>
              <a:rPr lang="en-US" altLang="en-US" sz="1225" dirty="0">
                <a:cs typeface="+mn-lt"/>
              </a:rPr>
              <a:t>but with high development effort</a:t>
            </a:r>
            <a:endParaRPr lang="en-US" altLang="en-US" sz="1225" dirty="0">
              <a:cs typeface="+mn-lt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451927" y="1570182"/>
            <a:ext cx="421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AI Utilization Across the Development Lifecycle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b="1" dirty="0">
                <a:cs typeface="+mn-lt"/>
              </a:rPr>
              <a:t>Requirements &amp; Design</a:t>
            </a:r>
            <a:endParaRPr lang="en-US" altLang="en-US" sz="15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Requirement Generation (Meeting Minutes → Requirement Documents)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Automated Design Document Generation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Specification Review Support</a:t>
            </a: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b="1" dirty="0">
                <a:cs typeface="+mn-lt"/>
              </a:rPr>
              <a:t>Development</a:t>
            </a:r>
            <a:endParaRPr lang="en-US" altLang="en-US" sz="15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Code Generation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Code Review Assistance</a:t>
            </a: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b="1" dirty="0">
                <a:cs typeface="+mn-lt"/>
              </a:rPr>
              <a:t>Testing</a:t>
            </a:r>
            <a:endParaRPr lang="en-US" altLang="en-US" sz="15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Test Case Generation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Automated Test Generation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UI Test Automation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Test Evidence Generation</a:t>
            </a:r>
            <a:endParaRPr lang="en-US" altLang="en-US" sz="1400" dirty="0"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22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latin typeface="+mn-lt"/>
                <a:cs typeface="+mn-lt"/>
              </a:rPr>
              <a:t>AI Application Areas: Business, Systems, and Customer</a:t>
            </a:r>
            <a:endParaRPr lang="en-US" altLang="en-US" sz="3600" dirty="0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1520"/>
            <a:ext cx="4114800" cy="38176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Business Domain (Internal Operations)</a:t>
            </a:r>
            <a:endParaRPr lang="en-US" altLang="en-US" sz="15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500" dirty="0">
                <a:cs typeface="+mn-lt"/>
              </a:rPr>
              <a:t> Enterprise Search (RAG)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Document Summarization &amp; Meeting Minutes Generation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Knowledge Utilization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Work Support (Document Creation &amp; Data Analysis)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Customer Engagement</a:t>
            </a:r>
            <a:endParaRPr lang="en-US" altLang="en-US" sz="15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AI-Powered Call Center (Voice-Based Support)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Chatbot (Inquiry Handling)</a:t>
            </a:r>
            <a:endParaRPr lang="en-US" altLang="en-US" sz="14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Multilingual Support</a:t>
            </a:r>
            <a:endParaRPr lang="en-US" altLang="en-US" sz="1400" dirty="0">
              <a:cs typeface="+mn-lt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52340" y="2001520"/>
            <a:ext cx="4114800" cy="249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System Integration Domain</a:t>
            </a:r>
            <a:endParaRPr lang="en-US" altLang="en-US" sz="15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Integration with Business Systems 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API Integration &amp; Database Access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Workflow Automation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Data Integration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Development Domain</a:t>
            </a:r>
            <a:endParaRPr lang="en-US" altLang="en-US" sz="15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Requirement Generation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Design Document Generation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Code Generation</a:t>
            </a:r>
            <a:endParaRPr lang="en-US" altLang="en-US" sz="1400" dirty="0">
              <a:cs typeface="+mn-lt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400" dirty="0">
                <a:cs typeface="+mn-lt"/>
              </a:rPr>
              <a:t>Test Automation (including UI Testing)</a:t>
            </a:r>
            <a:endParaRPr lang="en-US" altLang="en-US" sz="1400" dirty="0"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1437640"/>
            <a:ext cx="8138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cs typeface="+mn-lt"/>
                <a:sym typeface="+mn-ea"/>
              </a:rPr>
              <a:t>AI utilization across all domains: business, customer, and development</a:t>
            </a:r>
            <a:endParaRPr lang="en-US" altLang="en-US" dirty="0"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b="1" dirty="0">
                <a:latin typeface="+mn-lt"/>
                <a:cs typeface="+mn-lt"/>
              </a:rPr>
              <a:t>Key Technical Issues and Future Enhancements</a:t>
            </a:r>
            <a:endParaRPr lang="en-US" altLang="en-US" sz="3600" b="1" dirty="0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46830" cy="38906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500" dirty="0">
                <a:cs typeface="+mn-lt"/>
              </a:rPr>
              <a:t>■ Issues</a:t>
            </a:r>
            <a:endParaRPr lang="en-US" altLang="en-US" sz="15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AI-Related Issues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Insufficient accuracy (Hallucination)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Inconsistent response quality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Lack of well-defined evaluation standards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System Issues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Access control and security management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Data fragmentation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Insufficient API integration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Operational Issues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Cost (LLMs / Infrastructure)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Response latency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Operational and monitoring overhead</a:t>
            </a:r>
            <a:endParaRPr lang="en-US" altLang="en-US" sz="1200" dirty="0">
              <a:cs typeface="+mn-lt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378325" y="1623060"/>
            <a:ext cx="4366260" cy="41973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400" dirty="0">
                <a:cs typeface="+mn-lt"/>
              </a:rPr>
              <a:t>■ </a:t>
            </a:r>
            <a:r>
              <a:rPr lang="en-US" altLang="en-US" sz="1400" b="1" dirty="0">
                <a:cs typeface="+mn-lt"/>
                <a:sym typeface="+mn-ea"/>
              </a:rPr>
              <a:t>Future Enhancements</a:t>
            </a:r>
            <a:endParaRPr lang="en-US" altLang="en-US" sz="1400" b="1" dirty="0"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Agentization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Task-oriented AI (Autonomous task execution)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Integration with tools and APIs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State management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Workflow Integration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Integration with business workflows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Collaboration among multiple AI agents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Voice × Business Integration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Call → AI → Business Processing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Real-time processing</a:t>
            </a:r>
            <a:endParaRPr lang="en-US" altLang="en-US" sz="1200" dirty="0">
              <a:cs typeface="+mn-lt"/>
            </a:endParaRPr>
          </a:p>
          <a:p>
            <a:pPr marL="0" indent="0">
              <a:buNone/>
            </a:pPr>
            <a:endParaRPr lang="en-US" altLang="en-US" sz="1400" dirty="0">
              <a:cs typeface="+mn-lt"/>
            </a:endParaRPr>
          </a:p>
          <a:p>
            <a:pPr marL="0" indent="0">
              <a:buNone/>
            </a:pPr>
            <a:r>
              <a:rPr lang="en-US" altLang="en-US" sz="1400" b="1" dirty="0">
                <a:cs typeface="+mn-lt"/>
              </a:rPr>
              <a:t>AI-Driven Development Process</a:t>
            </a:r>
            <a:endParaRPr lang="en-US" altLang="en-US" sz="1400" b="1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End-to-end integration from requirements to testing</a:t>
            </a:r>
            <a:endParaRPr lang="en-US" altLang="en-US" sz="1200" dirty="0">
              <a:cs typeface="+mn-lt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200" dirty="0">
                <a:cs typeface="+mn-lt"/>
              </a:rPr>
              <a:t>Evolution of automated testing with AI</a:t>
            </a:r>
            <a:endParaRPr lang="en-US" altLang="en-US" sz="1200" dirty="0">
              <a:cs typeface="+mn-lt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40637" y="5917575"/>
            <a:ext cx="813879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en-US" sz="2400" dirty="0">
                <a:cs typeface="+mn-lt"/>
              </a:rPr>
              <a:t>Integrating Business, Customer, and Development with AI </a:t>
            </a:r>
            <a:endParaRPr kumimoji="1" lang="en-US" altLang="en-US" sz="2400" dirty="0">
              <a:cs typeface="+mn-lt"/>
            </a:endParaRPr>
          </a:p>
          <a:p>
            <a:pPr algn="ctr"/>
            <a:r>
              <a:rPr kumimoji="1" lang="en-US" altLang="en-US" sz="2400" dirty="0">
                <a:cs typeface="+mn-lt"/>
              </a:rPr>
              <a:t>(AI-Native Enterprise)</a:t>
            </a:r>
            <a:endParaRPr kumimoji="1" lang="en-US" altLang="en-US" sz="2400" dirty="0"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5137</Words>
  <Application>WPS Writer</Application>
  <PresentationFormat>画面に合わせる (4:3)</PresentationFormat>
  <Paragraphs>193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Arial</vt:lpstr>
      <vt:lpstr>ＭＳ Ｐゴシック 本文</vt:lpstr>
      <vt:lpstr>Thonburi</vt:lpstr>
      <vt:lpstr>MS PGothic</vt:lpstr>
      <vt:lpstr>苹方-简</vt:lpstr>
      <vt:lpstr>Microsoft YaHei</vt:lpstr>
      <vt:lpstr>汉仪旗黑</vt:lpstr>
      <vt:lpstr>Arial Unicode MS</vt:lpstr>
      <vt:lpstr>Calibri</vt:lpstr>
      <vt:lpstr>Helvetica Neue</vt:lpstr>
      <vt:lpstr>MS PGothic</vt:lpstr>
      <vt:lpstr>宋体-简</vt:lpstr>
      <vt:lpstr>Office Theme</vt:lpstr>
      <vt:lpstr>自社の現状整理</vt:lpstr>
      <vt:lpstr>既存システム構成（１）</vt:lpstr>
      <vt:lpstr>既存システム構成（２）</vt:lpstr>
      <vt:lpstr>AI応用現状: EvolvAI / AI電話サービス</vt:lpstr>
      <vt:lpstr>日本の開発プロセス × AI活用の検討</vt:lpstr>
      <vt:lpstr>AI活用テーマ（業務 × システム × 顧客）</vt:lpstr>
      <vt:lpstr>技術課題とアップグレード方向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home</cp:lastModifiedBy>
  <cp:revision>49</cp:revision>
  <dcterms:created xsi:type="dcterms:W3CDTF">2026-04-09T05:40:31Z</dcterms:created>
  <dcterms:modified xsi:type="dcterms:W3CDTF">2026-04-09T05:40:31Z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A5C3D58BF04AB34CBD11D769B523FDA2_42</vt:lpwstr>
  </property>
  <property fmtid="{D5CDD505-2E9C-101B-9397-08002B2CF9AE}" pid="3" name="KSOProductBuildVer">
    <vt:lpwstr>1033-12.1.23155.23155</vt:lpwstr>
  </property>
</Properties>
</file>